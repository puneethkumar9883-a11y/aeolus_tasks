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Task 3 — Propulsion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My propulsion choice for the 10-inch search-and-rescue 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3 requirements: 10-inch drone, specified motor + prop, choose battery and ESC, show calculations, &gt;12 min endurance, &lt;2.5 kg. Source: supplied task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246120" cy="1417320"/>
          </a:xfrm>
          <a:prstGeom prst="roundRect">
            <a:avLst/>
          </a:prstGeom>
          <a:solidFill>
            <a:srgbClr val="E7EFF9"/>
          </a:solidFill>
          <a:ln w="17780">
            <a:solidFill>
              <a:srgbClr val="31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572768"/>
            <a:ext cx="291693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16FB4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39112"/>
            <a:ext cx="284378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Holybro S500 V2</a:t>
            </a:r>
          </a:p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2216 — 920KV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246120" cy="1417320"/>
          </a:xfrm>
          <a:prstGeom prst="roundRect">
            <a:avLst/>
          </a:prstGeom>
          <a:solidFill>
            <a:srgbClr val="E9F5EC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572768"/>
            <a:ext cx="291693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Propeller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039112"/>
            <a:ext cx="284378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1045 / 10 × 4.5</a:t>
            </a:r>
          </a:p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Specified in the task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246120" cy="1417320"/>
          </a:xfrm>
          <a:prstGeom prst="roundRect">
            <a:avLst/>
          </a:prstGeom>
          <a:solidFill>
            <a:srgbClr val="F1EBF8"/>
          </a:solidFill>
          <a:ln w="17780">
            <a:solidFill>
              <a:srgbClr val="7B5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1572768"/>
            <a:ext cx="291693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B52AB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039112"/>
            <a:ext cx="284378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&gt; 12 min endurance</a:t>
            </a:r>
          </a:p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Total weight &lt; 2.5 kg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840480"/>
            <a:ext cx="813816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76272" y="3995928"/>
            <a:ext cx="780897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355C"/>
                </a:solidFill>
                <a:latin typeface="Aptos"/>
              </a:defRPr>
            </a:pPr>
            <a:r>
              <a:t>Main 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4462272"/>
            <a:ext cx="7735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Pick a battery + ESC combination that is compatible with the given motor and prop while keeping enough energy for more than 12 minutes of flight.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Motor + Propeller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I keep the given motor and 1045 propeller fixed for the main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3 requirements: 10-inch drone, specified motor + prop, choose battery and ESC, show calculations, &gt;12 min endurance, &lt;2.5 kg. Source: supplied task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2651760" cy="1417320"/>
          </a:xfrm>
          <a:prstGeom prst="roundRect">
            <a:avLst/>
          </a:prstGeom>
          <a:solidFill>
            <a:srgbClr val="E7EFF9"/>
          </a:solidFill>
          <a:ln w="17780">
            <a:solidFill>
              <a:srgbClr val="31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18488"/>
            <a:ext cx="232257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16FB4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84832"/>
            <a:ext cx="22494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2216-920KV</a:t>
            </a:r>
          </a:p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4 motors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463040"/>
            <a:ext cx="2651760" cy="1417320"/>
          </a:xfrm>
          <a:prstGeom prst="roundRect">
            <a:avLst/>
          </a:prstGeom>
          <a:solidFill>
            <a:srgbClr val="E9F5EC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1618488"/>
            <a:ext cx="232257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ESC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084832"/>
            <a:ext cx="22494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20A BLHeli S</a:t>
            </a:r>
          </a:p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4 ESCs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463040"/>
            <a:ext cx="2651760" cy="1417320"/>
          </a:xfrm>
          <a:prstGeom prst="roundRect">
            <a:avLst/>
          </a:prstGeom>
          <a:solidFill>
            <a:srgbClr val="FAEFE1"/>
          </a:solidFill>
          <a:ln w="17780">
            <a:solidFill>
              <a:srgbClr val="E0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618488"/>
            <a:ext cx="232257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08B36"/>
                </a:solidFill>
                <a:latin typeface="Aptos"/>
              </a:defRPr>
            </a:pPr>
            <a:r>
              <a:t>Propeller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2084832"/>
            <a:ext cx="22494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1045</a:t>
            </a:r>
          </a:p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10 × 4.5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37560" y="2148840"/>
            <a:ext cx="1417320" cy="0"/>
          </a:xfrm>
          <a:prstGeom prst="line">
            <a:avLst/>
          </a:prstGeom>
          <a:ln w="27940">
            <a:solidFill>
              <a:srgbClr val="31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06640" y="2148840"/>
            <a:ext cx="1417320" cy="0"/>
          </a:xfrm>
          <a:prstGeom prst="line">
            <a:avLst/>
          </a:prstGeom>
          <a:ln w="27940">
            <a:solidFill>
              <a:srgbClr val="4E9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57600" y="17830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316FB4"/>
                </a:solidFill>
                <a:latin typeface="Aptos"/>
              </a:defRPr>
            </a:pPr>
            <a:r>
              <a:t>motor 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783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4E9E60"/>
                </a:solidFill>
                <a:latin typeface="Aptos"/>
              </a:defRPr>
            </a:pPr>
            <a:r>
              <a:t>electrical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794760"/>
            <a:ext cx="10058400" cy="1188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6151" y="3950208"/>
            <a:ext cx="97292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355C"/>
                </a:solidFill>
                <a:latin typeface="Aptos"/>
              </a:defRPr>
            </a:pPr>
            <a:r>
              <a:t>Why 20A ESC?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4416552"/>
            <a:ext cx="9656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29323D"/>
                </a:solidFill>
                <a:latin typeface="Aptos"/>
              </a:defRPr>
            </a:pPr>
            <a:r>
              <a:t>Holybro uses a BLHeli S 20A ESC with the 2216 KV920 motor and 1045 propeller in the S500 V2 system, so I am using the same matched combination for my main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Battery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I selected a 4S 5000 mAh LiPo because it is the largest value in the manufacturer recommendation.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3 requirements: 10-inch drone, specified motor + prop, choose battery and ESC, show calculations, &gt;12 min endurance, &lt;2.5 kg. Source: supplied task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926080" cy="1554480"/>
          </a:xfrm>
          <a:prstGeom prst="roundRect">
            <a:avLst/>
          </a:prstGeom>
          <a:solidFill>
            <a:srgbClr val="E7EFF9"/>
          </a:solidFill>
          <a:ln w="17780">
            <a:solidFill>
              <a:srgbClr val="31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72768"/>
            <a:ext cx="259689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16FB4"/>
                </a:solidFill>
                <a:latin typeface="Aptos"/>
              </a:defRPr>
            </a:pPr>
            <a:r>
              <a:t>Battery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52374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9323D"/>
                </a:solidFill>
                <a:latin typeface="Aptos"/>
              </a:defRPr>
            </a:pPr>
            <a:r>
              <a:t>4S 5000 mAh</a:t>
            </a:r>
          </a:p>
          <a:p>
            <a:pPr>
              <a:spcAft>
                <a:spcPts val="400"/>
              </a:spcAft>
              <a:defRPr sz="1700">
                <a:solidFill>
                  <a:srgbClr val="29323D"/>
                </a:solidFill>
                <a:latin typeface="Aptos"/>
              </a:defRPr>
            </a:pPr>
            <a:r>
              <a:t>20C+</a:t>
            </a:r>
          </a:p>
          <a:p>
            <a:pPr>
              <a:spcAft>
                <a:spcPts val="400"/>
              </a:spcAft>
              <a:defRPr sz="1700">
                <a:solidFill>
                  <a:srgbClr val="29323D"/>
                </a:solidFill>
                <a:latin typeface="Aptos"/>
              </a:defRPr>
            </a:pPr>
            <a:r>
              <a:t>XT60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2926080" cy="1554480"/>
          </a:xfrm>
          <a:prstGeom prst="roundRect">
            <a:avLst/>
          </a:prstGeom>
          <a:solidFill>
            <a:srgbClr val="E9F5EC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572768"/>
            <a:ext cx="259689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Voltage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039112"/>
            <a:ext cx="252374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9323D"/>
                </a:solidFill>
                <a:latin typeface="Aptos"/>
              </a:defRPr>
            </a:pPr>
            <a:r>
              <a:t>4 × 3.7 V</a:t>
            </a:r>
          </a:p>
          <a:p>
            <a:pPr>
              <a:spcAft>
                <a:spcPts val="400"/>
              </a:spcAft>
              <a:defRPr sz="1700">
                <a:solidFill>
                  <a:srgbClr val="29323D"/>
                </a:solidFill>
                <a:latin typeface="Aptos"/>
              </a:defRPr>
            </a:pPr>
            <a:r>
              <a:t>= 14.8 V nominal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417320"/>
            <a:ext cx="2926080" cy="1554480"/>
          </a:xfrm>
          <a:prstGeom prst="roundRect">
            <a:avLst/>
          </a:prstGeom>
          <a:solidFill>
            <a:srgbClr val="F1EBF8"/>
          </a:solidFill>
          <a:ln w="17780">
            <a:solidFill>
              <a:srgbClr val="7B5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572768"/>
            <a:ext cx="259689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B52AB"/>
                </a:solidFill>
                <a:latin typeface="Aptos"/>
              </a:defRPr>
            </a:pPr>
            <a:r>
              <a:t>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039112"/>
            <a:ext cx="252374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9323D"/>
                </a:solidFill>
                <a:latin typeface="Aptos"/>
              </a:defRPr>
            </a:pPr>
            <a:r>
              <a:t>5 Ah × 14.8 V</a:t>
            </a:r>
          </a:p>
          <a:p>
            <a:pPr>
              <a:spcAft>
                <a:spcPts val="400"/>
              </a:spcAft>
              <a:defRPr sz="1700">
                <a:solidFill>
                  <a:srgbClr val="29323D"/>
                </a:solidFill>
                <a:latin typeface="Aptos"/>
              </a:defRPr>
            </a:pPr>
            <a:r>
              <a:t>= 74 Wh nominal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703320"/>
            <a:ext cx="10241280" cy="1325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3858768"/>
            <a:ext cx="991209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355C"/>
                </a:solidFill>
                <a:latin typeface="Aptos"/>
              </a:defRPr>
            </a:pPr>
            <a:r>
              <a:t>Why this battery?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4325112"/>
            <a:ext cx="983894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9323D"/>
                </a:solidFill>
                <a:latin typeface="Aptos"/>
              </a:defRPr>
            </a:pPr>
            <a:r>
              <a:t>Holybro recommends 4S 3000–5000 mAh 20C+ for the S500 V2. I chose 5000 mAh because the extra capacity helps with the 12-minute endurance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Endurance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A simple energy-based calculation to check whether 12 minutes is realistic.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3 requirements: 10-inch drone, specified motor + prop, choose battery and ESC, show calculations, &gt;12 min endurance, &lt;2.5 kg. Source: supplied task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063240" cy="1417320"/>
          </a:xfrm>
          <a:prstGeom prst="roundRect">
            <a:avLst/>
          </a:prstGeom>
          <a:solidFill>
            <a:srgbClr val="E7EFF9"/>
          </a:solidFill>
          <a:ln w="17780">
            <a:solidFill>
              <a:srgbClr val="31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72768"/>
            <a:ext cx="273405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16FB4"/>
                </a:solidFill>
                <a:latin typeface="Aptos"/>
              </a:defRPr>
            </a:pPr>
            <a:r>
              <a:t>Step 1 — Usable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26609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Assume 80% usable</a:t>
            </a:r>
          </a:p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5 Ah × 0.8 = 4 Ah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2856" y="1417320"/>
            <a:ext cx="3063240" cy="1417320"/>
          </a:xfrm>
          <a:prstGeom prst="roundRect">
            <a:avLst/>
          </a:prstGeom>
          <a:solidFill>
            <a:srgbClr val="E9F5EC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572768"/>
            <a:ext cx="273405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Step 2 — Usable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2039112"/>
            <a:ext cx="26609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14.8 V × 4 Ah</a:t>
            </a:r>
          </a:p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= 59.2 Wh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9912" y="1417320"/>
            <a:ext cx="3063240" cy="1417320"/>
          </a:xfrm>
          <a:prstGeom prst="roundRect">
            <a:avLst/>
          </a:prstGeom>
          <a:solidFill>
            <a:srgbClr val="F1EBF8"/>
          </a:solidFill>
          <a:ln w="17780">
            <a:solidFill>
              <a:srgbClr val="7B5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04504" y="1572768"/>
            <a:ext cx="273405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B52AB"/>
                </a:solidFill>
                <a:latin typeface="Aptos"/>
              </a:defRPr>
            </a:pPr>
            <a:r>
              <a:t>Step 3 — 12 min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39112"/>
            <a:ext cx="26609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12 min = 0.2 h</a:t>
            </a:r>
          </a:p>
          <a:p>
            <a:pPr>
              <a:spcAft>
                <a:spcPts val="4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59.2 Wh ÷ 0.2 h = 296 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657600"/>
            <a:ext cx="10241280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813048"/>
            <a:ext cx="991209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355C"/>
                </a:solidFill>
                <a:latin typeface="Aptos"/>
              </a:defRPr>
            </a:pPr>
            <a:r>
              <a:t>Design meaning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279392"/>
            <a:ext cx="98389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For this simplified 80%-usable-energy calculation, average battery power needs to stay below about 296 W to get more than 12 minutes.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B6775"/>
                </a:solidFill>
                <a:latin typeface="Aptos"/>
              </a:defRPr>
            </a:pPr>
            <a:r>
              <a:t>At 14.8 V, 296 W corresponds to about 20 A average battery current.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Manufacturer Reference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The manufacturer test gives a useful reality check for my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3 requirements: 10-inch drone, specified motor + prop, choose battery and ESC, show calculations, &gt;12 min endurance, &lt;2.5 kg. Source: supplied task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4709160" cy="1874519"/>
          </a:xfrm>
          <a:prstGeom prst="roundRect">
            <a:avLst/>
          </a:prstGeom>
          <a:solidFill>
            <a:srgbClr val="E9F5EC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481328"/>
            <a:ext cx="437997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Holybro S500 V2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947672"/>
            <a:ext cx="4306824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4S 5000 mAh battery</a:t>
            </a:r>
          </a:p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~18 min hover with no additional payload</a:t>
            </a:r>
          </a:p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2216 KV920 motors + 1045 props + 20A ESCs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325880"/>
            <a:ext cx="4709160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1" y="1481328"/>
            <a:ext cx="437997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355C"/>
                </a:solidFill>
                <a:latin typeface="Aptos"/>
              </a:defRPr>
            </a:pPr>
            <a:r>
              <a:t>My requirement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7" y="1947672"/>
            <a:ext cx="4306824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Required: &gt; 12 min</a:t>
            </a:r>
          </a:p>
          <a:p>
            <a:pPr>
              <a:spcAft>
                <a:spcPts val="4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Manufacturer reference: ~18 min</a:t>
            </a:r>
          </a:p>
          <a:p>
            <a:pPr>
              <a:spcAft>
                <a:spcPts val="4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So the chosen propulsion setup has a reasonable starting point for the requirement.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977639"/>
            <a:ext cx="8549640" cy="1143000"/>
          </a:xfrm>
          <a:prstGeom prst="roundRect">
            <a:avLst/>
          </a:prstGeom>
          <a:solidFill>
            <a:srgbClr val="FAEFE1"/>
          </a:solidFill>
          <a:ln w="17780">
            <a:solidFill>
              <a:srgbClr val="E0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3392" y="4133087"/>
            <a:ext cx="822045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08B36"/>
                </a:solidFill>
                <a:latin typeface="Aptos"/>
              </a:defRPr>
            </a:pPr>
            <a:r>
              <a:t>Important assumption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4599431"/>
            <a:ext cx="814730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29323D"/>
                </a:solidFill>
                <a:latin typeface="Aptos"/>
              </a:defRPr>
            </a:pPr>
            <a:r>
              <a:t>Real flight time will be lower if the drone is heavier, flies aggressively, fights wind, or carries extra payload. I would confirm the final endurance with a real flight 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Power and Current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This is the simple battery-level budget I would use for the design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3 requirements: 10-inch drone, specified motor + prop, choose battery and ESC, show calculations, &gt;12 min endurance, &lt;2.5 kg. Source: supplied task deck.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120" y="1463040"/>
          <a:ext cx="101955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389120"/>
                <a:gridCol w="2880360"/>
              </a:tblGrid>
              <a:tr h="5638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Quantity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Calculation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Battery nominal power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14.8 V × 5 Ah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74 Wh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80% usable energy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74 Wh × 0.8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59.2 Wh</a:t>
                      </a:r>
                    </a:p>
                  </a:txBody>
                  <a:tcPr marL="73152" marR="73152" marT="36576" marB="36576"/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12-minute target power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59.2 Wh ÷ 0.2 h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296 W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Current at 12-minute limit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296 W ÷ 14.8 V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20 A</a:t>
                      </a:r>
                    </a:p>
                  </a:txBody>
                  <a:tcPr marL="73152" marR="73152" marT="36576" marB="36576"/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Average current per motor (simple split)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20 A ÷ 4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5 A/motor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5840" y="5212080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B6775"/>
                </a:solidFill>
                <a:latin typeface="Aptos"/>
              </a:defRPr>
            </a:pPr>
            <a:r>
              <a:t>The 5 A/motor number is only an average design split, not the actual motor current at every throttle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Weight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I need the final measured build to stay below 2.5 kg.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3 requirements: 10-inch drone, specified motor + prop, choose battery and ESC, show calculations, &gt;12 min endurance, &lt;2.5 kg. Source: supplied task deck.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371600"/>
          <a:ext cx="1033272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5577840"/>
              </a:tblGrid>
              <a:tr h="50863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Item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Approx. mass / note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S500 V2 ARF with motors, ESCs, PDB, frame and props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~782 g (manufacturer)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4S 5000 mAh battery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Use exact battery mass after purchase</a:t>
                      </a:r>
                    </a:p>
                  </a:txBody>
                  <a:tcPr marL="73152" marR="73152" marT="36576" marB="36576"/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Pixhawk + power module + GPS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Use actual selected hardware mass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OAK-D Lite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~61 g</a:t>
                      </a:r>
                    </a:p>
                  </a:txBody>
                  <a:tcPr marL="73152" marR="73152" marT="36576" marB="36576"/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Raspberry Pi 5 (8 GB)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Use actual board + storage/cooling mass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RC + telemetry + VTX + wiring + mounts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Add actual masses</a:t>
                      </a:r>
                    </a:p>
                  </a:txBody>
                  <a:tcPr marL="73152" marR="73152" marT="36576" marB="36576"/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Must remain &lt; 2500 g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57784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5B6775"/>
                </a:solidFill>
                <a:latin typeface="Aptos"/>
              </a:defRPr>
            </a:pPr>
            <a:r>
              <a:t>The 782 g figure is the S500 V2 ARF weight. I should not treat it as the final whole-drone weight because avionics and battery still need to be added.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Final Propulsion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Battery power goes through the PDB to four ESCs and four motors.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3 requirements: 10-inch drone, specified motor + prop, choose battery and ESC, show calculations, &gt;12 min endurance, &lt;2.5 kg. Source: supplied task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960120"/>
            <a:ext cx="3749039" cy="1051560"/>
          </a:xfrm>
          <a:prstGeom prst="roundRect">
            <a:avLst/>
          </a:prstGeom>
          <a:solidFill>
            <a:srgbClr val="E7EFF9"/>
          </a:solidFill>
          <a:ln w="17780">
            <a:solidFill>
              <a:srgbClr val="31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1" y="1115568"/>
            <a:ext cx="341985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16FB4"/>
                </a:solidFill>
                <a:latin typeface="Aptos"/>
              </a:defRPr>
            </a:pPr>
            <a:r>
              <a:t>4S 5000 mAh LiPo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7" y="1581912"/>
            <a:ext cx="3346703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14.8 V nominal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606040"/>
            <a:ext cx="3749039" cy="1051560"/>
          </a:xfrm>
          <a:prstGeom prst="roundRect">
            <a:avLst/>
          </a:prstGeom>
          <a:solidFill>
            <a:srgbClr val="E9F5EC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1" y="2761488"/>
            <a:ext cx="341985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Power Module / PDB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3227832"/>
            <a:ext cx="3346703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Distributes battery power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011680"/>
            <a:ext cx="0" cy="594360"/>
          </a:xfrm>
          <a:prstGeom prst="line">
            <a:avLst/>
          </a:prstGeom>
          <a:ln w="27940">
            <a:solidFill>
              <a:srgbClr val="31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4206240"/>
            <a:ext cx="21031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361688"/>
            <a:ext cx="177393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ESC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828031"/>
            <a:ext cx="1700784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9323D"/>
                </a:solidFill>
                <a:latin typeface="Aptos"/>
              </a:defRPr>
            </a:pPr>
            <a:r>
              <a:t>20A BLHeli 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554480" y="3657600"/>
            <a:ext cx="4526280" cy="548640"/>
          </a:xfrm>
          <a:prstGeom prst="line">
            <a:avLst/>
          </a:prstGeom>
          <a:ln w="27940">
            <a:solidFill>
              <a:srgbClr val="4E9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5486400"/>
            <a:ext cx="2103120" cy="731520"/>
          </a:xfrm>
          <a:prstGeom prst="roundRect">
            <a:avLst/>
          </a:prstGeom>
          <a:solidFill>
            <a:srgbClr val="F1EBF8"/>
          </a:solidFill>
          <a:ln w="17780">
            <a:solidFill>
              <a:srgbClr val="7B5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5641848"/>
            <a:ext cx="177393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B52AB"/>
                </a:solidFill>
                <a:latin typeface="Aptos"/>
              </a:defRPr>
            </a:pPr>
            <a:r>
              <a:t>Motor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6108192"/>
            <a:ext cx="1700784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9323D"/>
                </a:solidFill>
                <a:latin typeface="Aptos"/>
              </a:defRPr>
            </a:pPr>
            <a:r>
              <a:t>2216-920KV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54480" y="5120640"/>
            <a:ext cx="0" cy="365760"/>
          </a:xfrm>
          <a:prstGeom prst="line">
            <a:avLst/>
          </a:prstGeom>
          <a:ln w="27940">
            <a:solidFill>
              <a:srgbClr val="4E9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46120" y="4206240"/>
            <a:ext cx="21031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0712" y="4361688"/>
            <a:ext cx="177393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ESC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7288" y="4828031"/>
            <a:ext cx="1700784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9323D"/>
                </a:solidFill>
                <a:latin typeface="Aptos"/>
              </a:defRPr>
            </a:pPr>
            <a:r>
              <a:t>20A BLHeli 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4297679" y="3657600"/>
            <a:ext cx="1783081" cy="548640"/>
          </a:xfrm>
          <a:prstGeom prst="line">
            <a:avLst/>
          </a:prstGeom>
          <a:ln w="27940">
            <a:solidFill>
              <a:srgbClr val="4E9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246120" y="5486400"/>
            <a:ext cx="2103120" cy="731520"/>
          </a:xfrm>
          <a:prstGeom prst="roundRect">
            <a:avLst/>
          </a:prstGeom>
          <a:solidFill>
            <a:srgbClr val="F1EBF8"/>
          </a:solidFill>
          <a:ln w="17780">
            <a:solidFill>
              <a:srgbClr val="7B5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0712" y="5641848"/>
            <a:ext cx="177393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B52AB"/>
                </a:solidFill>
                <a:latin typeface="Aptos"/>
              </a:defRPr>
            </a:pPr>
            <a:r>
              <a:t>Motor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6108192"/>
            <a:ext cx="1700784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9323D"/>
                </a:solidFill>
                <a:latin typeface="Aptos"/>
              </a:defRPr>
            </a:pPr>
            <a:r>
              <a:t>2216-920KV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297679" y="5120640"/>
            <a:ext cx="0" cy="365760"/>
          </a:xfrm>
          <a:prstGeom prst="line">
            <a:avLst/>
          </a:prstGeom>
          <a:ln w="27940">
            <a:solidFill>
              <a:srgbClr val="4E9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989320" y="4206240"/>
            <a:ext cx="21031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4361688"/>
            <a:ext cx="177393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ESC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0488" y="4828031"/>
            <a:ext cx="1700784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9323D"/>
                </a:solidFill>
                <a:latin typeface="Aptos"/>
              </a:defRPr>
            </a:pPr>
            <a:r>
              <a:t>20A BLHeli 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80760" y="3657600"/>
            <a:ext cx="960119" cy="548640"/>
          </a:xfrm>
          <a:prstGeom prst="line">
            <a:avLst/>
          </a:prstGeom>
          <a:ln w="27940">
            <a:solidFill>
              <a:srgbClr val="4E9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89320" y="5486400"/>
            <a:ext cx="2103120" cy="731520"/>
          </a:xfrm>
          <a:prstGeom prst="roundRect">
            <a:avLst/>
          </a:prstGeom>
          <a:solidFill>
            <a:srgbClr val="F1EBF8"/>
          </a:solidFill>
          <a:ln w="17780">
            <a:solidFill>
              <a:srgbClr val="7B5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53912" y="5641848"/>
            <a:ext cx="177393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B52AB"/>
                </a:solidFill>
                <a:latin typeface="Aptos"/>
              </a:defRPr>
            </a:pPr>
            <a:r>
              <a:t>Motor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0488" y="6108192"/>
            <a:ext cx="1700784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9323D"/>
                </a:solidFill>
                <a:latin typeface="Aptos"/>
              </a:defRPr>
            </a:pPr>
            <a:r>
              <a:t>2216-920KV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040879" y="5120640"/>
            <a:ext cx="0" cy="365760"/>
          </a:xfrm>
          <a:prstGeom prst="line">
            <a:avLst/>
          </a:prstGeom>
          <a:ln w="27940">
            <a:solidFill>
              <a:srgbClr val="4E9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732520" y="4206240"/>
            <a:ext cx="21031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E9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97112" y="4361688"/>
            <a:ext cx="177393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9E60"/>
                </a:solidFill>
                <a:latin typeface="Aptos"/>
              </a:defRPr>
            </a:pPr>
            <a:r>
              <a:t>ESC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3688" y="4828031"/>
            <a:ext cx="1700784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9323D"/>
                </a:solidFill>
                <a:latin typeface="Aptos"/>
              </a:defRPr>
            </a:pPr>
            <a:r>
              <a:t>20A BLHeli 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80760" y="3657600"/>
            <a:ext cx="3703320" cy="548640"/>
          </a:xfrm>
          <a:prstGeom prst="line">
            <a:avLst/>
          </a:prstGeom>
          <a:ln w="27940">
            <a:solidFill>
              <a:srgbClr val="4E9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732520" y="5486400"/>
            <a:ext cx="2103120" cy="731520"/>
          </a:xfrm>
          <a:prstGeom prst="roundRect">
            <a:avLst/>
          </a:prstGeom>
          <a:solidFill>
            <a:srgbClr val="F1EBF8"/>
          </a:solidFill>
          <a:ln w="17780">
            <a:solidFill>
              <a:srgbClr val="7B5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97112" y="5641848"/>
            <a:ext cx="177393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B52AB"/>
                </a:solidFill>
                <a:latin typeface="Aptos"/>
              </a:defRPr>
            </a:pPr>
            <a:r>
              <a:t>Motor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33688" y="6108192"/>
            <a:ext cx="1700784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9323D"/>
                </a:solidFill>
                <a:latin typeface="Aptos"/>
              </a:defRPr>
            </a:pPr>
            <a:r>
              <a:t>2216-920KV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784080" y="5120640"/>
            <a:ext cx="0" cy="365760"/>
          </a:xfrm>
          <a:prstGeom prst="line">
            <a:avLst/>
          </a:prstGeom>
          <a:ln w="27940">
            <a:solidFill>
              <a:srgbClr val="4E9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1440" y="3611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16FB4"/>
                </a:solidFill>
                <a:latin typeface="Aptos"/>
              </a:defRPr>
            </a:pPr>
            <a:r>
              <a:t>Battery power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36118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E9E60"/>
                </a:solidFill>
                <a:latin typeface="Aptos"/>
              </a:defRPr>
            </a:pPr>
            <a:r>
              <a:t>4 parallel branches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Final Selection +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My final propulsion choice for the main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Task 3 requirements: 10-inch drone, specified motor + prop, choose battery and ESC, show calculations, &gt;12 min endurance, &lt;2.5 kg. Source: supplied task deck.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17320"/>
          <a:ext cx="11018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834640"/>
                <a:gridCol w="6355080"/>
              </a:tblGrid>
              <a:tr h="512064">
                <a:tc>
                  <a:txBody>
                    <a:bodyPr/>
                    <a:lstStyle/>
                    <a:p>
                      <a:pPr>
                        <a:defRPr sz="10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My selection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Reason</a:t>
                      </a:r>
                    </a:p>
                  </a:txBody>
                  <a:tcPr marL="73152" marR="73152" marT="36576" marB="36576">
                    <a:solidFill>
                      <a:srgbClr val="316FB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Motor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4 × 2216-920KV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Specified motor in the task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Propeller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4 × 1045 / 10×4.5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Specified propeller in the task</a:t>
                      </a:r>
                    </a:p>
                  </a:txBody>
                  <a:tcPr marL="73152" marR="73152" marT="36576" marB="36576"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ESC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4 × 20A BLHeli S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Matches the Holybro S500 V2 setup</a:t>
                      </a:r>
                    </a:p>
                  </a:txBody>
                  <a:tcPr marL="73152" marR="73152" marT="36576" marB="36576">
                    <a:solidFill>
                      <a:srgbClr val="F3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Battery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4S 5000 mAh 20C+</a:t>
                      </a: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9323D"/>
                          </a:solidFill>
                          <a:latin typeface="Aptos"/>
                        </a:defRPr>
                      </a:pPr>
                      <a:r>
                        <a:t>Largest recommended capacity; supports endurance target</a:t>
                      </a:r>
                    </a:p>
                  </a:txBody>
                  <a:tcPr marL="73152" marR="73152" marT="36576" marB="36576"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" y="4343400"/>
            <a:ext cx="5029200" cy="1097280"/>
          </a:xfrm>
          <a:prstGeom prst="roundRect">
            <a:avLst/>
          </a:prstGeom>
          <a:solidFill>
            <a:srgbClr val="FAEFE1"/>
          </a:solidFill>
          <a:ln w="17780">
            <a:solidFill>
              <a:srgbClr val="E0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4498848"/>
            <a:ext cx="47000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08B36"/>
                </a:solidFill>
                <a:latin typeface="Aptos"/>
              </a:defRPr>
            </a:pPr>
            <a:r>
              <a:t>Bonus — How I would compare an alternative motor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965192"/>
            <a:ext cx="462686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29323D"/>
                </a:solidFill>
                <a:latin typeface="Aptos"/>
              </a:defRPr>
            </a:pPr>
            <a:r>
              <a:t>I would compare thrust per watt, not just maximum thrust.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343400"/>
            <a:ext cx="502920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3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4498848"/>
            <a:ext cx="4700016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355C"/>
                </a:solidFill>
                <a:latin typeface="Aptos"/>
              </a:defRPr>
            </a:pPr>
            <a:r>
              <a:t>Key 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4965192"/>
            <a:ext cx="462686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9323D"/>
                </a:solidFill>
                <a:latin typeface="Aptos"/>
              </a:defRPr>
            </a:pPr>
            <a:r>
              <a:t>Efficiency = thrust (g) ÷ electrical power (W)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69280"/>
            <a:ext cx="9966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B6775"/>
                </a:solidFill>
                <a:latin typeface="Aptos"/>
              </a:defRPr>
            </a:pPr>
            <a:r>
              <a:t>I would only call an alternative motor “better” after checking its thrust table with the same propeller and voltage.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1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55C"/>
                </a:solidFill>
                <a:latin typeface="Aptos Display"/>
              </a:defRPr>
            </a:pPr>
            <a:r>
              <a:t>Task 3 — Sources and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775"/>
                </a:solidFill>
                <a:latin typeface="Aptos"/>
              </a:defRPr>
            </a:pPr>
            <a:r>
              <a:t>Main numbers are tied to the manufacturer setup or clearly marked as design assumptions.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29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16FB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201400" cy="10972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5B6775"/>
                </a:solidFill>
                <a:latin typeface="Aptos"/>
              </a:defRPr>
            </a:pPr>
            <a:r>
              <a:t>Sources: official Holybro S500 V2 documentation + supplied task deck.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• Holybro S500 V2 documentation: 2216 KV920 motors, 20A BLHeli S ESCs, 1045 props, built-in PDB, 4S 3000–5000 mAh 20C+ battery recommendation.</a:t>
            </a:r>
          </a:p>
          <a:p>
            <a:pPr>
              <a:spcAft>
                <a:spcPts val="8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• Holybro reports ~18 minutes hover with a 5000 mAh battery and no additional payload in its stated test setup.</a:t>
            </a:r>
          </a:p>
          <a:p>
            <a:pPr>
              <a:spcAft>
                <a:spcPts val="8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• The 80% usable-energy assumption is my design assumption for a simple endurance check, not a manufacturer specification.</a:t>
            </a:r>
          </a:p>
          <a:p>
            <a:pPr>
              <a:spcAft>
                <a:spcPts val="8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• The ~296 W / 20 A values are calculated thresholds for the 12-minute target under that assumption.</a:t>
            </a:r>
          </a:p>
          <a:p>
            <a:pPr>
              <a:spcAft>
                <a:spcPts val="800"/>
              </a:spcAft>
              <a:defRPr sz="1500">
                <a:solidFill>
                  <a:srgbClr val="29323D"/>
                </a:solidFill>
                <a:latin typeface="Aptos"/>
              </a:defRPr>
            </a:pPr>
            <a:r>
              <a:t>• Final drone mass and real endurance should be verified after the exact battery, avionics, wiring and payload are installed.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KiCad Connection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7772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5563"/>
                </a:solidFill>
              </a:defRPr>
            </a:pPr>
            <a:r>
              <a:t>I/O-level propulsion connections for my Task 3 design</a:t>
            </a:r>
          </a:p>
        </p:txBody>
      </p:sp>
      <p:pic>
        <p:nvPicPr>
          <p:cNvPr id="4" name="Picture 3" descr="Screenshot From 2026-09-06 00-55-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1872"/>
            <a:ext cx="8823960" cy="365785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555480" y="1234440"/>
            <a:ext cx="2148840" cy="50749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109728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My check</a:t>
            </a:r>
          </a:p>
          <a:p>
            <a:pPr>
              <a:spcBef>
                <a:spcPts val="700"/>
              </a:spcBef>
            </a:pPr>
            <a:r>
              <a:rPr b="1">
                <a:solidFill>
                  <a:srgbClr val="2563EB"/>
                </a:solidFill>
              </a:rPr>
              <a:t>✓ </a:t>
            </a:r>
            <a:r>
              <a:rPr sz="1050">
                <a:solidFill>
                  <a:srgbClr val="1F2937"/>
                </a:solidFill>
              </a:rPr>
              <a:t>Battery → PDB power connections are shown.</a:t>
            </a:r>
          </a:p>
          <a:p>
            <a:pPr>
              <a:spcBef>
                <a:spcPts val="700"/>
              </a:spcBef>
            </a:pPr>
            <a:r>
              <a:rPr b="1">
                <a:solidFill>
                  <a:srgbClr val="2563EB"/>
                </a:solidFill>
              </a:rPr>
              <a:t>✓ </a:t>
            </a:r>
            <a:r>
              <a:rPr sz="1050">
                <a:solidFill>
                  <a:srgbClr val="1F2937"/>
                </a:solidFill>
              </a:rPr>
              <a:t>ESC V+ / GND and PWM signal connections are shown.</a:t>
            </a:r>
          </a:p>
          <a:p>
            <a:pPr>
              <a:spcBef>
                <a:spcPts val="700"/>
              </a:spcBef>
            </a:pPr>
            <a:r>
              <a:rPr b="1">
                <a:solidFill>
                  <a:srgbClr val="2563EB"/>
                </a:solidFill>
              </a:rPr>
              <a:t>✓ </a:t>
            </a:r>
            <a:r>
              <a:rPr sz="1050">
                <a:solidFill>
                  <a:srgbClr val="1F2937"/>
                </a:solidFill>
              </a:rPr>
              <a:t>Pixhawk MAIN OUT is used for ESC control.</a:t>
            </a:r>
          </a:p>
          <a:p>
            <a:pPr>
              <a:spcBef>
                <a:spcPts val="700"/>
              </a:spcBef>
            </a:pPr>
            <a:r>
              <a:rPr b="1">
                <a:solidFill>
                  <a:srgbClr val="B91C1C"/>
                </a:solidFill>
              </a:rPr>
              <a:t>! </a:t>
            </a:r>
            <a:r>
              <a:rPr sz="1050">
                <a:solidFill>
                  <a:srgbClr val="1F2937"/>
                </a:solidFill>
              </a:rPr>
              <a:t>Motor 3-phase wiring needs correction before I submit.</a:t>
            </a:r>
          </a:p>
          <a:p>
            <a:pPr>
              <a:spcBef>
                <a:spcPts val="700"/>
              </a:spcBef>
            </a:pPr>
            <a:r>
              <a:rPr b="1">
                <a:solidFill>
                  <a:srgbClr val="B91C1C"/>
                </a:solidFill>
              </a:rPr>
              <a:t>! </a:t>
            </a:r>
            <a:r>
              <a:rPr sz="1050">
                <a:solidFill>
                  <a:srgbClr val="1F2937"/>
                </a:solidFill>
              </a:rPr>
              <a:t>Each motor must have its own 3 separate phase wires from its own ESC. They must not be joined together.</a:t>
            </a:r>
          </a:p>
          <a:p>
            <a:pPr>
              <a:spcBef>
                <a:spcPts val="700"/>
              </a:spcBef>
            </a:pPr>
            <a:r>
              <a:rPr b="1">
                <a:solidFill>
                  <a:srgbClr val="2563EB"/>
                </a:solidFill>
              </a:rPr>
              <a:t>→ </a:t>
            </a:r>
            <a:r>
              <a:rPr sz="1050">
                <a:solidFill>
                  <a:srgbClr val="1F2937"/>
                </a:solidFill>
              </a:rPr>
              <a:t>I will redraw the motor phase wires as ESC1 → Motor1, ESC2 → Motor2, ESC3 → Motor3, ESC4 → Motor4.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53912"/>
            <a:ext cx="8823960" cy="438912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Important: I would fix the motor phase wiring in KiCad before exporting the final schematic for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83C"/>
                </a:solidFill>
                <a:latin typeface="Aptos"/>
              </a:rPr>
              <a:t>Task 3 Bonus — Alternative Motor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9"/>
                </a:solidFill>
                <a:latin typeface="Aptos"/>
              </a:rPr>
              <a:t>I looked for a motor setup that can give higher thrust without needing as much input power.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749039" cy="3566160"/>
          </a:xfrm>
          <a:prstGeom prst="roundRect">
            <a:avLst/>
          </a:prstGeom>
          <a:solidFill>
            <a:srgbClr val="F7F9FC"/>
          </a:solidFill>
          <a:ln>
            <a:solidFill>
              <a:srgbClr val="B4B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9283C"/>
                </a:solidFill>
                <a:latin typeface="Aptos"/>
              </a:rPr>
              <a:t>Current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Aptos"/>
              </a:rPr>
              <a:t>Holybro 2216 KV920 + T1045
4S / 16 V test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2971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E1E"/>
                </a:solidFill>
                <a:latin typeface="Aptos"/>
              </a:rPr>
              <a:t>At 100% throttle:
Thrust = 1332 g
Power = 260 W
Current = 16.37 A
Efficiency = 5.13 g/W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17320"/>
            <a:ext cx="3749039" cy="3566160"/>
          </a:xfrm>
          <a:prstGeom prst="roundRect">
            <a:avLst/>
          </a:prstGeom>
          <a:solidFill>
            <a:srgbClr val="F7F9FC"/>
          </a:solidFill>
          <a:ln>
            <a:solidFill>
              <a:srgbClr val="B4B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645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9283C"/>
                </a:solidFill>
                <a:latin typeface="Aptos"/>
              </a:rPr>
              <a:t>Alternative 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011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Aptos"/>
              </a:rPr>
              <a:t>T-Motor XMM3115 KV900
6S / ~22 V + C10.5×5×3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788920"/>
            <a:ext cx="2971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E1E"/>
                </a:solidFill>
                <a:latin typeface="Aptos"/>
              </a:rPr>
              <a:t>At 50% throttle:
Thrust = 1475 g
Power = 217 W
Current = 13.69 A
Efficiency = 6.80 g/W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257800"/>
            <a:ext cx="7315200" cy="914400"/>
          </a:xfrm>
          <a:prstGeom prst="roundRect">
            <a:avLst/>
          </a:prstGeom>
          <a:solidFill>
            <a:srgbClr val="E8F6EC"/>
          </a:solidFill>
          <a:ln>
            <a:solidFill>
              <a:srgbClr val="8CB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44068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94B2D"/>
                </a:solidFill>
                <a:latin typeface="Aptos"/>
              </a:rPr>
              <a:t>Result: 1475 g &gt; 1332 g thrust, while 217 W &lt; 260 W in these published test 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3550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469"/>
                </a:solidFill>
                <a:latin typeface="Aptos"/>
              </a:rPr>
              <a:t>Source: T-Motor published AIR2216II KV920/T1045 test data and XMM3115 KV900 test data. The comparison is not perfectly apples-to-apples because the alternative uses 6S and a 10.5×5×3 propeller, so I would bench-test it before changing the final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83C"/>
                </a:solidFill>
                <a:latin typeface="Aptos"/>
              </a:rPr>
              <a:t>Bonus Conclusion — What I Would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9"/>
                </a:solidFill>
                <a:latin typeface="Aptos"/>
              </a:rPr>
              <a:t>The bonus motor looks promising, but I would keep the specified motor for the main design unless testing confirms the improvement on my actual drone.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7498079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B4B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9283C"/>
                </a:solidFill>
                <a:latin typeface="Aptos"/>
              </a:rPr>
              <a:t>Why the alternative is interesting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53619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  <a:latin typeface="Aptos"/>
              </a:rPr>
              <a:t>It has a larger 3115 stator and, in the published test point, gives more thrust with less electrical power. This could improve thrust margin and potentially help with payload.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7498079" cy="2148840"/>
          </a:xfrm>
          <a:prstGeom prst="roundRect">
            <a:avLst/>
          </a:prstGeom>
          <a:solidFill>
            <a:srgbClr val="FAFAFA"/>
          </a:solidFill>
          <a:ln>
            <a:solidFill>
              <a:srgbClr val="B4B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992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9283C"/>
                </a:solidFill>
                <a:latin typeface="Aptos"/>
              </a:rPr>
              <a:t>Checks I would do before switching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  <a:latin typeface="Aptos"/>
              </a:rPr>
              <a:t>• Check that the 3115 motor physically fits the 10-inch frame.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5876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  <a:latin typeface="Aptos"/>
              </a:rPr>
              <a:t>• Use an ESC rated for the alternative motor current; do not reuse the 20 A ESC blindly.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4281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  <a:latin typeface="Aptos"/>
              </a:rPr>
              <a:t>• Check the new battery voltage and propeller combination.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2686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  <a:latin typeface="Aptos"/>
              </a:rPr>
              <a:t>• Compare flight time and motor temperature on the real drone.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57800"/>
            <a:ext cx="7498079" cy="914400"/>
          </a:xfrm>
          <a:prstGeom prst="roundRect">
            <a:avLst/>
          </a:prstGeom>
          <a:solidFill>
            <a:srgbClr val="F2F5FA"/>
          </a:solidFill>
          <a:ln>
            <a:solidFill>
              <a:srgbClr val="B4B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44068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2D37"/>
                </a:solidFill>
                <a:latin typeface="Aptos"/>
              </a:rPr>
              <a:t>Final bonus answer: T-Motor XMM3115 KV900 is a promising alternative, but I would keep Holybro 2216 KV920 as the main build because it is the motor already specified in the task and its 20 A ESC / 1045 prop combination is already documented by Holybro.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