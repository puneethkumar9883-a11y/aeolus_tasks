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Task 1 — Autonomous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971800" cy="192024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OAK-D Lite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RGB + stereo depth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On-device vision processing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61 g • up to ~5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1325880"/>
            <a:ext cx="2971800" cy="1920240"/>
          </a:xfrm>
          <a:prstGeom prst="roundRect">
            <a:avLst/>
          </a:prstGeom>
          <a:solidFill>
            <a:srgbClr val="E9F6ED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Raspberry Pi 5 (8 GB)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Runs the main vision / navigation code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USB connection to camera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5 V powered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325880"/>
            <a:ext cx="2971800" cy="1920240"/>
          </a:xfrm>
          <a:prstGeom prst="roundRect">
            <a:avLst/>
          </a:prstGeom>
          <a:solidFill>
            <a:srgbClr val="F2ECF9"/>
          </a:solidFill>
          <a:ln w="15240">
            <a:solidFill>
              <a:srgbClr val="7B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7B5BA4"/>
                </a:solidFill>
                <a:latin typeface="Aptos"/>
              </a:defRPr>
            </a:pPr>
            <a:r>
              <a:t>Pixhawk 6C Mini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Main flight controller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Receives navigation commands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Controls the drone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267712"/>
            <a:ext cx="1005840" cy="0"/>
          </a:xfrm>
          <a:prstGeom prst="line">
            <a:avLst/>
          </a:prstGeom>
          <a:ln w="27940">
            <a:solidFill>
              <a:srgbClr val="2E6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71231" y="2267712"/>
            <a:ext cx="1005841" cy="0"/>
          </a:xfrm>
          <a:prstGeom prst="line">
            <a:avLst/>
          </a:prstGeom>
          <a:ln w="27940">
            <a:solidFill>
              <a:srgbClr val="48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67328" y="1965960"/>
            <a:ext cx="7772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00" b="1">
                <a:solidFill>
                  <a:srgbClr val="2E68AC"/>
                </a:solidFill>
                <a:latin typeface="Aptos"/>
              </a:defRPr>
            </a:pPr>
            <a:r>
              <a:t>USB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1965960"/>
            <a:ext cx="7772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00" b="1">
                <a:solidFill>
                  <a:srgbClr val="48975F"/>
                </a:solidFill>
                <a:latin typeface="Aptos"/>
              </a:defRPr>
            </a:pPr>
            <a:r>
              <a:rPr dirty="0" err="1"/>
              <a:t>MAVLink</a:t>
            </a:r>
            <a:r>
              <a:rPr dirty="0"/>
              <a:t> / nav.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767328"/>
            <a:ext cx="845820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152848"/>
                </a:solidFill>
                <a:latin typeface="Aptos"/>
              </a:defRPr>
            </a:pPr>
            <a:r>
              <a:rPr dirty="0"/>
              <a:t>Why this architecture?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We need depth for obstacle detection + a computer for autonomous decisions. OAK-D Lite does part of the vision processing itself, while the Raspberry Pi handles our higher-level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413248"/>
            <a:ext cx="7726679" cy="47548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2000" b="1">
                <a:solidFill>
                  <a:srgbClr val="152848"/>
                </a:solidFill>
                <a:latin typeface="Aptos"/>
              </a:defRPr>
            </a:pPr>
            <a:r>
              <a:t>Final choice:  OAK-D Lite + Raspberry Pi 5 (8 GB)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Task requirements: justify architecture; calculate power, weight and cost; compare all five options. Source: supplied task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1. Why we selected Architecture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Beginner-style explanation of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rPr dirty="0"/>
              <a:t>What the OAK-D Lite gives us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• RGB camera for normal visual information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• Stereo depth to estimate how far objects are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• On-device processing, so the Pi does not have to do everything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rPr dirty="0"/>
              <a:t>• Compact and vibration-friendly fixed-focus option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What the Raspberry Pi does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Runs our Python / robotics software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Takes camera data from the OAK-D Lite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Makes higher-level decisions for search and navigation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Sends useful navigation information to the flight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7B5BA4"/>
                </a:solidFill>
                <a:latin typeface="Aptos"/>
              </a:defRPr>
            </a:pPr>
            <a:r>
              <a:t>Why not the Jetson option?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Jetson gives more AI computing power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But it also increases power and cost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For this mission we want a balanced build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• We think OAK-D Lite + Pi 5 is enough for the first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OAK-D Lite: 4 TOPS on-device processing, stereo depth, 61 g, up to ~5 W. Source: Luxonis hardware docs.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2. Mission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How the selected sensors help the drone find Odysseus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8288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Environment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Unknown area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objects + obstacles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852928"/>
            <a:ext cx="411480" cy="0"/>
          </a:xfrm>
          <a:prstGeom prst="line">
            <a:avLst/>
          </a:prstGeom>
          <a:ln w="25400">
            <a:solidFill>
              <a:srgbClr val="2E6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74519"/>
            <a:ext cx="18288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6A6BE"/>
                </a:solidFill>
                <a:latin typeface="Aptos"/>
              </a:defRPr>
            </a:pPr>
            <a:r>
              <a:t>OAK-D Lite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RGB + depth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3D information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852928"/>
            <a:ext cx="411480" cy="0"/>
          </a:xfrm>
          <a:prstGeom prst="line">
            <a:avLst/>
          </a:prstGeom>
          <a:ln w="25400">
            <a:solidFill>
              <a:srgbClr val="46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874519"/>
            <a:ext cx="18288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Raspberry Pi 5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Vision + navigation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software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2852928"/>
            <a:ext cx="411480" cy="0"/>
          </a:xfrm>
          <a:prstGeom prst="line">
            <a:avLst/>
          </a:prstGeom>
          <a:ln w="25400">
            <a:solidFill>
              <a:srgbClr val="48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874519"/>
            <a:ext cx="18288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B5BA4"/>
                </a:solidFill>
                <a:latin typeface="Aptos"/>
              </a:defRPr>
            </a:pPr>
            <a:r>
              <a:t>Pixhawk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Flight control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position / movement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0" y="2852928"/>
            <a:ext cx="411480" cy="0"/>
          </a:xfrm>
          <a:prstGeom prst="line">
            <a:avLst/>
          </a:prstGeom>
          <a:ln w="25400">
            <a:solidFill>
              <a:srgbClr val="7B5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874519"/>
            <a:ext cx="18288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8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78F3E"/>
                </a:solidFill>
                <a:latin typeface="Aptos"/>
              </a:defRPr>
            </a:pPr>
            <a:r>
              <a:t>Drone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Search + avoid</a:t>
            </a:r>
          </a:p>
          <a:p>
            <a:pPr algn="ctr">
              <a:defRPr sz="1250">
                <a:solidFill>
                  <a:srgbClr val="28303A"/>
                </a:solidFill>
                <a:latin typeface="Aptos"/>
              </a:defRPr>
            </a:pPr>
            <a:r>
              <a:t>obstacles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10378440" cy="132588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152848"/>
                </a:solidFill>
                <a:latin typeface="Aptos"/>
              </a:defRPr>
            </a:pPr>
            <a:r>
              <a:rPr dirty="0"/>
              <a:t>Main search-and-rescue functions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1) Detect obstacles  2) Estimate distance  3) </a:t>
            </a:r>
            <a:r>
              <a:rPr dirty="0" err="1"/>
              <a:t>Recognise</a:t>
            </a:r>
            <a:r>
              <a:rPr dirty="0"/>
              <a:t> useful visual objects  4) Navigate safely through an unknown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Use case is based on the supplied task statement: autonomous search-and-rescue mission for Odysseus.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3. Power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Preliminary worst-case design estimate for the perception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789920" cy="26161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  <a:latin typeface="Aptos"/>
              </a:defRPr>
            </a:pPr>
            <a:r>
              <a:rPr lang="en-IN" dirty="0"/>
              <a:t>I</a:t>
            </a:r>
            <a:r>
              <a:rPr dirty="0"/>
              <a:t> a</a:t>
            </a:r>
            <a:r>
              <a:rPr lang="en-IN" dirty="0"/>
              <a:t>m</a:t>
            </a:r>
            <a:r>
              <a:rPr dirty="0"/>
              <a:t> using the maximum / conservative values so that the power supply has some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3154680" cy="155448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OAK-D Lite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Maximum power ≈ 5 W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Voltage = 5 V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Current ≈ 5/5 = 1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901952"/>
            <a:ext cx="3154680" cy="1554480"/>
          </a:xfrm>
          <a:prstGeom prst="roundRect">
            <a:avLst/>
          </a:prstGeom>
          <a:solidFill>
            <a:srgbClr val="E9F6ED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rPr dirty="0"/>
              <a:t>Raspberry Pi 5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Peak power ≈ 12 W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Voltage = 5 V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Current ≈ 12/5 = 2.4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6" y="1901952"/>
            <a:ext cx="3154680" cy="1554480"/>
          </a:xfrm>
          <a:prstGeom prst="roundRect">
            <a:avLst/>
          </a:prstGeom>
          <a:solidFill>
            <a:srgbClr val="FCF1E3"/>
          </a:solidFill>
          <a:ln w="15240">
            <a:solidFill>
              <a:srgbClr val="E78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E78F3E"/>
                </a:solidFill>
                <a:latin typeface="Aptos"/>
              </a:defRPr>
            </a:pPr>
            <a:r>
              <a:t>Total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Ptotal = 5 + 12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= 17 W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Itotal ≈ 17/5 = 3.4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58768"/>
            <a:ext cx="10332720" cy="56692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2100" b="1">
                <a:solidFill>
                  <a:srgbClr val="152848"/>
                </a:solidFill>
                <a:latin typeface="Aptos"/>
              </a:defRPr>
            </a:pPr>
            <a:r>
              <a:t>Selected supply: 5 V, 5 A regulator / power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26280"/>
            <a:ext cx="10058400" cy="7315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600" b="0">
                <a:solidFill>
                  <a:srgbClr val="28303A"/>
                </a:solidFill>
                <a:latin typeface="Aptos"/>
              </a:defRPr>
            </a:pPr>
            <a:r>
              <a:t>Available power = 5 × 5 = 25 W  →  about 8 W margin above the 17 W estimate.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376672"/>
            <a:ext cx="81381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152848"/>
                </a:solidFill>
                <a:latin typeface="Aptos"/>
              </a:defRPr>
            </a:pPr>
            <a:r>
              <a:t>Note</a:t>
            </a:r>
          </a:p>
          <a:p>
            <a:pPr>
              <a:spcBef>
                <a:spcPts val="400"/>
              </a:spcBef>
              <a:defRPr sz="1150">
                <a:solidFill>
                  <a:srgbClr val="28303A"/>
                </a:solidFill>
                <a:latin typeface="Aptos"/>
              </a:defRPr>
            </a:pPr>
            <a:r>
              <a:t>Actual flight power will depend on workload, cooling, USB devices and software. These are design calculations, not measured flight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Sources: Luxonis OAK-D Lite docs (up to ~5 W); Raspberry Pi 5 official pages (peak ~12 W; 5 V/5 A power supply guidance).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4. Weight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Sensor + companion computer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3840480" cy="1874519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OAK-D Lite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Weight = 61 g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Small enough for a 10-inch drone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Fixed-focus variant is intended for vibration-heavy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08760"/>
            <a:ext cx="3840480" cy="1874519"/>
          </a:xfrm>
          <a:prstGeom prst="roundRect">
            <a:avLst/>
          </a:prstGeom>
          <a:solidFill>
            <a:srgbClr val="E9F6ED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Raspberry Pi 5 (8 GB)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Design value ≈ 65 g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Board-only estimate from a current distributor datasheet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Extra cooling / mounting will add some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301752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2600" b="1">
                <a:solidFill>
                  <a:srgbClr val="152848"/>
                </a:solidFill>
                <a:latin typeface="Aptos"/>
              </a:defRPr>
            </a:pPr>
            <a:r>
              <a:t>61 g + 65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87168"/>
            <a:ext cx="3017520" cy="594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2600" b="1">
                <a:solidFill>
                  <a:srgbClr val="2E68AC"/>
                </a:solidFill>
                <a:latin typeface="Aptos"/>
              </a:defRPr>
            </a:pPr>
            <a:r>
              <a:t>≈ 126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886200"/>
            <a:ext cx="8458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152848"/>
                </a:solidFill>
                <a:latin typeface="Aptos"/>
              </a:defRPr>
            </a:pPr>
            <a:r>
              <a:rPr dirty="0"/>
              <a:t>Result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rPr dirty="0"/>
              <a:t>The main perception stack is only about 0.13 kg. This leaves most of the 2.5 kg drone limit for the frame, battery, motors, ESCs and other electronics.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577840"/>
            <a:ext cx="800100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900" b="1">
                <a:solidFill>
                  <a:srgbClr val="48975F"/>
                </a:solidFill>
                <a:latin typeface="Aptos"/>
              </a:defRPr>
            </a:pPr>
            <a:r>
              <a:t>126 g / 2500 g ≈ 5% of the total mass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OAK-D Lite weight: 61 g (Luxonis). Raspberry Pi 5 8 GB weight: ~65 g design reference. Treat final assembled weight as a measured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5. Cost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Approximate India prices checked in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931920" cy="475488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508760"/>
            <a:ext cx="2377440" cy="475488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Approx.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508760"/>
            <a:ext cx="4389120" cy="475488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84248"/>
            <a:ext cx="39319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984248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1984248"/>
            <a:ext cx="4389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57984"/>
            <a:ext cx="361188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50" b="0">
                <a:solidFill>
                  <a:srgbClr val="28303A"/>
                </a:solidFill>
                <a:latin typeface="Aptos"/>
              </a:defRPr>
            </a:pPr>
            <a:r>
              <a:t>OAK-D Lite (Fixed Focus)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157984"/>
            <a:ext cx="214884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450" b="0">
                <a:solidFill>
                  <a:srgbClr val="152848"/>
                </a:solidFill>
                <a:latin typeface="Aptos"/>
              </a:defRPr>
            </a:pPr>
            <a:r>
              <a:t>₹33,899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157984"/>
            <a:ext cx="3977639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250" b="0">
                <a:solidFill>
                  <a:srgbClr val="5C6570"/>
                </a:solidFill>
                <a:latin typeface="Aptos"/>
              </a:defRPr>
            </a:pPr>
            <a:r>
              <a:t>Current India listing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34056"/>
            <a:ext cx="39319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2734056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2734056"/>
            <a:ext cx="4389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2907791"/>
            <a:ext cx="361188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50" b="0">
                <a:solidFill>
                  <a:srgbClr val="28303A"/>
                </a:solidFill>
                <a:latin typeface="Aptos"/>
              </a:defRPr>
            </a:pPr>
            <a:r>
              <a:t>Raspberry Pi 5, 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907791"/>
            <a:ext cx="214884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450" b="0">
                <a:solidFill>
                  <a:srgbClr val="152848"/>
                </a:solidFill>
                <a:latin typeface="Aptos"/>
              </a:defRPr>
            </a:pPr>
            <a:r>
              <a:t>₹22,339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907791"/>
            <a:ext cx="3977639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250" b="0">
                <a:solidFill>
                  <a:srgbClr val="5C6570"/>
                </a:solidFill>
                <a:latin typeface="Aptos"/>
              </a:defRPr>
            </a:pPr>
            <a:r>
              <a:t>Current India listing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83863"/>
            <a:ext cx="39319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3483863"/>
            <a:ext cx="2377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40880" y="3483863"/>
            <a:ext cx="4389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57599"/>
            <a:ext cx="361188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50" b="0">
                <a:solidFill>
                  <a:srgbClr val="28303A"/>
                </a:solidFill>
                <a:latin typeface="Aptos"/>
              </a:defRPr>
            </a:pPr>
            <a:r>
              <a:t>5 V / 5 A regulator + cable + mounting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3657599"/>
            <a:ext cx="214884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450" b="0">
                <a:solidFill>
                  <a:srgbClr val="152848"/>
                </a:solidFill>
                <a:latin typeface="Aptos"/>
              </a:defRPr>
            </a:pPr>
            <a:r>
              <a:t>₹2,000 (budget)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3657599"/>
            <a:ext cx="3977639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250" b="0">
                <a:solidFill>
                  <a:srgbClr val="5C6570"/>
                </a:solidFill>
                <a:latin typeface="Aptos"/>
              </a:defRPr>
            </a:pPr>
            <a:r>
              <a:t>Estimated allowance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33672"/>
            <a:ext cx="3931920" cy="749808"/>
          </a:xfrm>
          <a:prstGeom prst="rect">
            <a:avLst/>
          </a:prstGeom>
          <a:solidFill>
            <a:srgbClr val="E8F0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4233672"/>
            <a:ext cx="2377440" cy="749808"/>
          </a:xfrm>
          <a:prstGeom prst="rect">
            <a:avLst/>
          </a:prstGeom>
          <a:solidFill>
            <a:srgbClr val="E8F0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0" y="4233672"/>
            <a:ext cx="4389120" cy="749808"/>
          </a:xfrm>
          <a:prstGeom prst="rect">
            <a:avLst/>
          </a:prstGeom>
          <a:solidFill>
            <a:srgbClr val="E8F0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407408"/>
            <a:ext cx="361188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50" b="1">
                <a:solidFill>
                  <a:srgbClr val="28303A"/>
                </a:solidFill>
                <a:latin typeface="Aptos"/>
              </a:defRPr>
            </a:pPr>
            <a:r>
              <a:t>Estimated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4407408"/>
            <a:ext cx="2148840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450" b="1">
                <a:solidFill>
                  <a:srgbClr val="152848"/>
                </a:solidFill>
                <a:latin typeface="Aptos"/>
              </a:defRPr>
            </a:pPr>
            <a:r>
              <a:t>₹58,238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4407408"/>
            <a:ext cx="3977639" cy="411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250" b="0">
                <a:solidFill>
                  <a:srgbClr val="5C6570"/>
                </a:solidFill>
                <a:latin typeface="Aptos"/>
              </a:defRPr>
            </a:pPr>
            <a:r>
              <a:t>Approximate, before shipping / other accessories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54480" y="5349240"/>
            <a:ext cx="9052560" cy="713232"/>
          </a:xfrm>
          <a:prstGeom prst="roundRect">
            <a:avLst/>
          </a:prstGeom>
          <a:solidFill>
            <a:srgbClr val="FCF1E3"/>
          </a:solidFill>
          <a:ln w="15240">
            <a:solidFill>
              <a:srgbClr val="E78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E78F3E"/>
                </a:solidFill>
                <a:latin typeface="Aptos"/>
              </a:defRPr>
            </a:pPr>
            <a:r>
              <a:t>Important</a:t>
            </a:r>
          </a:p>
          <a:p>
            <a:pPr>
              <a:spcBef>
                <a:spcPts val="400"/>
              </a:spcBef>
              <a:defRPr sz="1150">
                <a:solidFill>
                  <a:srgbClr val="28303A"/>
                </a:solidFill>
                <a:latin typeface="Aptos"/>
              </a:defRPr>
            </a:pPr>
            <a:r>
              <a:t>Component prices change. Use the price at the time of purchase in the final report.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Price sources: MG Super Labs India (OAK-D Lite ₹33,899); Robocraze India (Raspberry Pi 5 8 GB ₹22,339), checked Sept 5,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6. Compare all five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Rating scale: 1 = weak, 5 = very good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47548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400" b="1">
                <a:solidFill>
                  <a:srgbClr val="152848"/>
                </a:solidFill>
                <a:latin typeface="Aptos"/>
              </a:defRPr>
            </a:pPr>
            <a:r>
              <a:t>Weightages we decided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00200"/>
            <a:ext cx="22402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27632"/>
            <a:ext cx="150876" cy="20116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5486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1">
                <a:solidFill>
                  <a:srgbClr val="2E68AC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47672"/>
            <a:ext cx="22402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975104"/>
            <a:ext cx="100584" cy="20116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947672"/>
            <a:ext cx="5486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1">
                <a:solidFill>
                  <a:srgbClr val="2E68AC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95144"/>
            <a:ext cx="22402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322576"/>
            <a:ext cx="75438" cy="20116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295144"/>
            <a:ext cx="5486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1">
                <a:solidFill>
                  <a:srgbClr val="2E68A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22402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Ease of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670048"/>
            <a:ext cx="125730" cy="20116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2642616"/>
            <a:ext cx="5486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1">
                <a:solidFill>
                  <a:srgbClr val="2E68AC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990088"/>
            <a:ext cx="224028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017520"/>
            <a:ext cx="50292" cy="20116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990088"/>
            <a:ext cx="548640" cy="274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1150" b="1">
                <a:solidFill>
                  <a:srgbClr val="2E68AC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261872"/>
            <a:ext cx="233172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380744"/>
            <a:ext cx="229514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261872"/>
            <a:ext cx="68580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7848" y="1380744"/>
            <a:ext cx="64922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261872"/>
            <a:ext cx="68580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59367" y="1380744"/>
            <a:ext cx="64922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1261872"/>
            <a:ext cx="68580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90888" y="1380744"/>
            <a:ext cx="64922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261872"/>
            <a:ext cx="68580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22408" y="1380744"/>
            <a:ext cx="64922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63072" y="1261872"/>
            <a:ext cx="59436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81360" y="1380744"/>
            <a:ext cx="55778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03152" y="1261872"/>
            <a:ext cx="594360" cy="530352"/>
          </a:xfrm>
          <a:prstGeom prst="rect">
            <a:avLst/>
          </a:prstGeom>
          <a:solidFill>
            <a:srgbClr val="15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521440" y="1380744"/>
            <a:ext cx="557784" cy="29260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Weighted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1792224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09560" y="1792224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41080" y="1792224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72600" y="1792224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104120" y="1792224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863072" y="1792224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503152" y="1792224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41264" y="1975104"/>
            <a:ext cx="2221991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919" b="0">
                <a:solidFill>
                  <a:srgbClr val="28303A"/>
                </a:solidFill>
                <a:latin typeface="Aptos"/>
              </a:defRPr>
            </a:pPr>
            <a:r>
              <a:t>Stereo + Jetson Orin Nano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1993392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1993392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1993392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1993392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63072" y="1993392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03152" y="1993392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3.80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542032"/>
            <a:ext cx="233172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909560" y="2542032"/>
            <a:ext cx="68580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641080" y="2542032"/>
            <a:ext cx="68580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372600" y="2542032"/>
            <a:ext cx="68580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104120" y="2542032"/>
            <a:ext cx="68580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863072" y="2542032"/>
            <a:ext cx="59436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503152" y="2542032"/>
            <a:ext cx="594360" cy="749808"/>
          </a:xfrm>
          <a:prstGeom prst="rect">
            <a:avLst/>
          </a:prstGeom>
          <a:solidFill>
            <a:srgbClr val="E9F6ED"/>
          </a:solidFill>
          <a:ln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41264" y="2724912"/>
            <a:ext cx="2221991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919" b="1">
                <a:solidFill>
                  <a:srgbClr val="28303A"/>
                </a:solidFill>
                <a:latin typeface="Aptos"/>
              </a:defRPr>
            </a:pPr>
            <a:r>
              <a:t>OAK-D Lite + Pi 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2743200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15284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2743200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15284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2743200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15284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2743200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15284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63072" y="2743200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15284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03152" y="2743200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050" b="1">
                <a:solidFill>
                  <a:srgbClr val="48975F"/>
                </a:solidFill>
                <a:latin typeface="Aptos"/>
              </a:defRPr>
            </a:pPr>
            <a:r>
              <a:t>4.45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3291839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909560" y="3291839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641080" y="3291839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372600" y="3291839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104120" y="3291839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863072" y="3291839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1503152" y="3291839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41264" y="3474720"/>
            <a:ext cx="2221991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919" b="0">
                <a:solidFill>
                  <a:srgbClr val="28303A"/>
                </a:solidFill>
                <a:latin typeface="Aptos"/>
              </a:defRPr>
            </a:pPr>
            <a:r>
              <a:t>LiDAR + Camera + Pi 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3493008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3493008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600" y="3493008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3493008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63072" y="3493008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03152" y="3493008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4.15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4041648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09560" y="4041648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641080" y="4041648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372600" y="4041648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104120" y="4041648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863072" y="4041648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503152" y="4041648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41264" y="4224528"/>
            <a:ext cx="2221991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919" b="0">
                <a:solidFill>
                  <a:srgbClr val="28303A"/>
                </a:solidFill>
                <a:latin typeface="Aptos"/>
              </a:defRPr>
            </a:pPr>
            <a:r>
              <a:t>Stereo + Pi 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09560" y="4242816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41080" y="4242816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72600" y="4242816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4242816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63072" y="4242816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503152" y="4242816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4.00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0" y="4791456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09560" y="4791456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641080" y="4791456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372600" y="4791456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104120" y="4791456"/>
            <a:ext cx="6858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863072" y="4791456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503152" y="4791456"/>
            <a:ext cx="5943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541264" y="4974336"/>
            <a:ext cx="2221991" cy="3657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>
              <a:defRPr sz="919" b="0">
                <a:solidFill>
                  <a:srgbClr val="28303A"/>
                </a:solidFill>
                <a:latin typeface="Aptos"/>
              </a:defRPr>
            </a:pPr>
            <a:r>
              <a:t>D435i + Jetson Orin Nano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4992624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41080" y="4992624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72600" y="4992624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04120" y="4992624"/>
            <a:ext cx="68580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63072" y="4992624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2830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03152" y="4992624"/>
            <a:ext cx="594360" cy="3200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050" b="1">
                <a:solidFill>
                  <a:srgbClr val="28303A"/>
                </a:solidFill>
                <a:latin typeface="Aptos"/>
              </a:defRPr>
            </a:pPr>
            <a:r>
              <a:t>3.55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Scoring is our engineering judgement, not a manufacturer rating. Weighted score = Σ(rating × weight) ÷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7. Final selection + camera 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360707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rPr dirty="0"/>
              <a:t>How </a:t>
            </a:r>
            <a:r>
              <a:rPr lang="en-IN" dirty="0"/>
              <a:t>I</a:t>
            </a:r>
            <a:r>
              <a:rPr dirty="0"/>
              <a:t> would physically mount the perception </a:t>
            </a:r>
            <a:r>
              <a:rPr lang="en-IN" dirty="0"/>
              <a:t>system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4389120" cy="1874519"/>
          </a:xfrm>
          <a:prstGeom prst="roundRect">
            <a:avLst/>
          </a:prstGeom>
          <a:solidFill>
            <a:srgbClr val="E9F6ED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Final selection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OAK-D Lite + Raspberry Pi 5 (8 GB)</a:t>
            </a:r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endParaRPr/>
          </a:p>
          <a:p>
            <a:pPr>
              <a:spcBef>
                <a:spcPts val="400"/>
              </a:spcBef>
              <a:defRPr sz="1500">
                <a:solidFill>
                  <a:srgbClr val="28303A"/>
                </a:solidFill>
                <a:latin typeface="Aptos"/>
              </a:defRPr>
            </a:pPr>
            <a:r>
              <a:t>Best balance for our mission: depth + vision + manageable power + simple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27632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2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640" y="1325880"/>
            <a:ext cx="685800" cy="274320"/>
          </a:xfrm>
          <a:prstGeom prst="ellipse">
            <a:avLst/>
          </a:prstGeom>
          <a:solidFill>
            <a:srgbClr val="E8F0F9"/>
          </a:solidFill>
          <a:ln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1325880"/>
            <a:ext cx="685800" cy="274320"/>
          </a:xfrm>
          <a:prstGeom prst="ellipse">
            <a:avLst/>
          </a:prstGeom>
          <a:solidFill>
            <a:srgbClr val="E8F0F9"/>
          </a:solidFill>
          <a:ln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263640" y="3063240"/>
            <a:ext cx="685800" cy="274320"/>
          </a:xfrm>
          <a:prstGeom prst="ellipse">
            <a:avLst/>
          </a:prstGeom>
          <a:solidFill>
            <a:srgbClr val="E8F0F9"/>
          </a:solidFill>
          <a:ln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0" y="3063240"/>
            <a:ext cx="685800" cy="274320"/>
          </a:xfrm>
          <a:prstGeom prst="ellipse">
            <a:avLst/>
          </a:prstGeom>
          <a:solidFill>
            <a:srgbClr val="E8F0F9"/>
          </a:solidFill>
          <a:ln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42048" y="1828800"/>
            <a:ext cx="1188720" cy="658368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OAK-D Lite</a:t>
            </a:r>
          </a:p>
          <a:p>
            <a:pPr>
              <a:spcBef>
                <a:spcPts val="400"/>
              </a:spcBef>
              <a:defRPr sz="980">
                <a:solidFill>
                  <a:srgbClr val="28303A"/>
                </a:solidFill>
                <a:latin typeface="Aptos"/>
              </a:defRPr>
            </a:pPr>
            <a:r>
              <a:t>Front-facing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5552" y="2816352"/>
            <a:ext cx="0" cy="640080"/>
          </a:xfrm>
          <a:prstGeom prst="line">
            <a:avLst/>
          </a:prstGeom>
          <a:ln w="27940">
            <a:solidFill>
              <a:srgbClr val="E78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560" y="3456432"/>
            <a:ext cx="2194560" cy="34747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150" b="1">
                <a:solidFill>
                  <a:srgbClr val="E78F3E"/>
                </a:solidFill>
                <a:latin typeface="Aptos"/>
              </a:defRPr>
            </a:pPr>
            <a:r>
              <a:t>Tilt camera slightly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160520"/>
            <a:ext cx="5577840" cy="3840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350" b="0">
                <a:solidFill>
                  <a:srgbClr val="28303A"/>
                </a:solidFill>
                <a:latin typeface="Aptos"/>
              </a:defRPr>
            </a:pPr>
            <a:r>
              <a:t>Mount near the front, keep both stereo lenses level, and avoid propellers / frame blocking the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49039"/>
            <a:ext cx="43891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152848"/>
                </a:solidFill>
                <a:latin typeface="Aptos"/>
              </a:defRPr>
            </a:pPr>
            <a:r>
              <a:rPr dirty="0"/>
              <a:t>Why a slight downward angle?</a:t>
            </a:r>
          </a:p>
          <a:p>
            <a:pPr>
              <a:spcBef>
                <a:spcPts val="4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rPr dirty="0"/>
              <a:t>We still want the camera to see forward, but a small downward tilt lets us see some of the ground and nearby obstacles. Exact angle can be adjusted during flight testing.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Camera mounting is a design choice. Final angle should be validated with the real frame, propeller layout and flight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E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848"/>
                </a:solidFill>
                <a:latin typeface="Aptos"/>
              </a:defRPr>
            </a:pPr>
            <a:r>
              <a:t>8. Task 1 — final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570"/>
                </a:solidFill>
                <a:latin typeface="Aptos"/>
              </a:defRPr>
            </a:pPr>
            <a:r>
              <a:t>The version I would submit after checking the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E68A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200" b="1">
                <a:solidFill>
                  <a:srgbClr val="2E68AC"/>
                </a:solidFill>
                <a:latin typeface="Aptos"/>
              </a:defRPr>
            </a:pPr>
            <a:r>
              <a:t>SELECTED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10698480" cy="62179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2800" b="1">
                <a:solidFill>
                  <a:srgbClr val="152848"/>
                </a:solidFill>
                <a:latin typeface="Aptos"/>
              </a:defRPr>
            </a:pPr>
            <a:r>
              <a:t>OAK-D Lite + Raspberry Pi 5 (8 GB)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3246120" cy="24231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E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2E68AC"/>
                </a:solidFill>
                <a:latin typeface="Aptos"/>
              </a:defRPr>
            </a:pPr>
            <a:r>
              <a:t>Performance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RGB + stereo depth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4 TOPS on-device processing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Useful for obstacle detection and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542032"/>
            <a:ext cx="3246120" cy="2423160"/>
          </a:xfrm>
          <a:prstGeom prst="roundRect">
            <a:avLst/>
          </a:prstGeom>
          <a:solidFill>
            <a:srgbClr val="E9F6ED"/>
          </a:solidFill>
          <a:ln w="15240">
            <a:solidFill>
              <a:srgbClr val="48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48975F"/>
                </a:solidFill>
                <a:latin typeface="Aptos"/>
              </a:defRPr>
            </a:pPr>
            <a:r>
              <a:t>Power + weight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≈ 17 W worst-case estimate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≈ 126 g main perception stack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5 V / 5 A design supply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2542032"/>
            <a:ext cx="3246120" cy="2423160"/>
          </a:xfrm>
          <a:prstGeom prst="roundRect">
            <a:avLst/>
          </a:prstGeom>
          <a:solidFill>
            <a:srgbClr val="FCF1E3"/>
          </a:solidFill>
          <a:ln w="15240">
            <a:solidFill>
              <a:srgbClr val="E78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28016" rtlCol="0" anchor="ctr"/>
          <a:lstStyle/>
          <a:p>
            <a:pPr algn="ctr">
              <a:defRPr sz="1600" b="1">
                <a:solidFill>
                  <a:srgbClr val="E78F3E"/>
                </a:solidFill>
                <a:latin typeface="Aptos"/>
              </a:defRPr>
            </a:pPr>
            <a:r>
              <a:t>Cost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≈ ₹58,238 with current listed prices + small allowance</a:t>
            </a:r>
          </a:p>
          <a:p>
            <a:pPr>
              <a:spcBef>
                <a:spcPts val="400"/>
              </a:spcBef>
              <a:defRPr sz="1400">
                <a:solidFill>
                  <a:srgbClr val="28303A"/>
                </a:solidFill>
                <a:latin typeface="Aptos"/>
              </a:defRPr>
            </a:pPr>
            <a:r>
              <a:t>Price can change before purchase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58384"/>
            <a:ext cx="10332720" cy="6126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defRPr sz="1800" b="1">
                <a:solidFill>
                  <a:srgbClr val="152848"/>
                </a:solidFill>
                <a:latin typeface="Aptos"/>
              </a:defRPr>
            </a:pPr>
            <a:r>
              <a:t>Conclusion: We selected this build because it gives us useful depth + vision without making the drone unnecessarily heavy or complicated.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9224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70"/>
                </a:solidFill>
                <a:latin typeface="Aptos"/>
              </a:defRPr>
            </a:pPr>
            <a:r>
              <a:t>Sources: supplied task deck; Luxonis OAK-D Lite documentation; Raspberry Pi 5 official documentation; MG Super Labs India; Robocraze India. Values marked approximate are design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1205</Words>
  <Application>Microsoft Office PowerPoint</Application>
  <PresentationFormat>Widescreen</PresentationFormat>
  <Paragraphs>217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Puneeth Kumar</dc:creator>
  <cp:keywords/>
  <dc:description>generated using python-pptx</dc:description>
  <cp:lastModifiedBy>Puneeth Kumar</cp:lastModifiedBy>
  <cp:revision>3</cp:revision>
  <dcterms:created xsi:type="dcterms:W3CDTF">2013-01-27T09:14:16Z</dcterms:created>
  <dcterms:modified xsi:type="dcterms:W3CDTF">2026-09-06T09:51:55Z</dcterms:modified>
  <cp:category/>
</cp:coreProperties>
</file>